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IBM Plex Sans" panose="020B0503050203000203" pitchFamily="34" charset="0"/>
      <p:regular r:id="rId10"/>
    </p:embeddedFont>
    <p:embeddedFont>
      <p:font typeface="Manrope Bold" panose="020B0604020202020204" charset="0"/>
      <p:regular r:id="rId11"/>
    </p:embeddedFont>
    <p:embeddedFont>
      <p:font typeface="Noto Sans" panose="020B0502040504020204" pitchFamily="34" charset="0"/>
      <p:regular r:id="rId12"/>
    </p:embeddedFont>
    <p:embeddedFont>
      <p:font typeface="Noto Sans Bold" panose="020B0802040504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41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нами учебный стенд для практического изучения теоремы Котельникова «на железе». Его задача — показать эффект алиасинга не только формулой, а на реальном сигнале и реальном оборудовании. Проект выполняют Никитина К.С. и Васильев М.И., группа РА-41, дисциплина «Проектная деятельность». В следующих слайдах мы покажем проблему, состав стенда, два режима работы и план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проекта в том, что теорема Котельникова и эффект алиасинга остаются для студентов 1–2 курсов сложными и абстрактными понятиями. Формулы не показывают, как ложная частота искажает реальный звук или радиосигнал. Поэтому мы предлагаем физический и недорогой стенд. Он за секунды показывает правильную и неправильную оцифровку, позволяет менять параметры в реальном времени и может использоваться преподавателем как готовая лабораторная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создать работающий учебный стенд, который наглядно и воспроизводимо демонстрирует алиасинг при дискретизации сигналов. Для этого сначала собирается аппаратная часть на базе Arduino Uno. Затем пишется скетч, который генерирует и оцифровывает тестовый сигнал. После этого Python-скрипт строит временные графики и спектр с помощью БПФ. Завершает работу методический материал для проведения занятий.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Стенд состоит из нескольких звеньев, и важно не потерять ни одно из них. Arduino Uno самостоятельно создаёт ШИМ-сигнал. RC-фильтр нижних частот сглаживает этот сигнал. Затем АЦП измеряет его с выбранной скоростью. Данные через Serial уходят на персональный компьютер, где Python и БПФ строят временную реализацию и спектр. В комплект входят плата, компоненты RC-фильтра, кнопка переключения режимов и компьютер.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видно, зачем нужен стенд. Исходный сигнал имеет частоту 100 Гц. В первом режиме частота дискретизации равна 500 Гц. Условие теоремы Котельникова выполнено, поэтому временная реализация сохраняет сигнал, а в спектре появляется правильный пик 100 Гц. Во втором режиме частота дискретизации равна 150 Гц. Условие нарушено: сигнал маскируется, и спектр показывает ложный пик 50 Гц. Это и есть эффект алиасинга.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Реализация рассчитана на восемь недель. На первых двух неделях закупаются радиодетали и утверждаются параметры сигналов. На третьей и четвёртой неделях собирается электрическая схема фильтра и создаётся базовый скетч. На пятой и шестой неделях разрабатывается Python-скрипт и фиксируются оба спектра. На седьмой неделе готовится подробная методичка объёмом 4–6 страниц. Восьмая неделя отводится упаковке стенда в корпус, финальным тестам и защите на кафедре.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результате проект передаёт не только идею, а полный набор материалов. Это физический макет стенда в защитном контейнере, понятная лабораторная методичка объёмом 4–6 страниц, проверенный скетч Arduino и готовый Python-скрипт визуализации. Дополнительно формируется набор эталонных CSV-файлов для демонстрационных лекций. Главный итог — доступное и наглядное учебное пособие, созданное своими руками и связывающее теорию дискретизации с работой реального стенда.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8FB3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23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3E53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5349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FB39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9919"/>
            <a:ext cx="7924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104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ПРОЕКТНАЯ ДЕЯТЕЛЬНОСТЬ · РА-41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9269"/>
            <a:ext cx="7315017" cy="217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600" b="1" kern="100" spc="-84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Учебный стенд для демонстрации эффекта алиасинга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3321832"/>
            <a:ext cx="7315017" cy="659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Практическое изучение теоремы Котельникова «на железе»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6026209"/>
            <a:ext cx="792460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7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Авторы: Никитина К.С. и Васильев М.И.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rgbClr val="334350"/>
          </a:solidFill>
          <a:ln/>
        </p:spPr>
      </p:sp>
      <p:sp>
        <p:nvSpPr>
          <p:cNvPr id="2" name="Text 0"/>
          <p:cNvSpPr/>
          <p:nvPr/>
        </p:nvSpPr>
        <p:spPr>
          <a:xfrm>
            <a:off x="609585" y="657093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36" dirty="0">
                <a:solidFill>
                  <a:srgbClr val="B9D3C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Проблема и актуальность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341438"/>
            <a:ext cx="10972526" cy="121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Формулы не показывают, как ложные частоты искажают сигнал.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Студенты заучивают условие теоремы Котельникова и формулу частоты дискретизации, но не видят, что происходит с реальным звуком или радиосигналом, когда это условие нарушено.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2772172"/>
            <a:ext cx="5257668" cy="3931444"/>
          </a:xfrm>
          <a:prstGeom prst="rect">
            <a:avLst/>
          </a:prstGeom>
          <a:solidFill>
            <a:srgbClr val="222F3A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018367"/>
            <a:ext cx="480048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Проблема</a:t>
            </a:r>
            <a:endParaRPr lang="en-US" sz="24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B3C7CD59-8649-CEDA-8A42-79A8FF0A2884}"/>
              </a:ext>
            </a:extLst>
          </p:cNvPr>
          <p:cNvSpPr/>
          <p:nvPr/>
        </p:nvSpPr>
        <p:spPr>
          <a:xfrm>
            <a:off x="6324442" y="2765973"/>
            <a:ext cx="5257668" cy="3931444"/>
          </a:xfrm>
          <a:prstGeom prst="rect">
            <a:avLst/>
          </a:prstGeom>
          <a:solidFill>
            <a:srgbClr val="222F3A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539030"/>
            <a:ext cx="4800480" cy="199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Теорема Котельникова и алиасинг абстрактны для студентов 1–2 курсов. Без наблюдения на реальном сигнале трудно понять, почему частота дискретизации должна быть вдвое выше максимальной частоты спектра.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3036" y="3018367"/>
            <a:ext cx="480048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Польза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53036" y="3531791"/>
            <a:ext cx="4800480" cy="294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Недорогой стенд за секунды показывает правильную и ложную оцифровку одного и того же сигнала.</a:t>
            </a:r>
            <a:endParaRPr lang="en-US" sz="19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Преподаватель может сразу переключать режимы и сравнивать результаты, не тратя время на сложную аппаратуру.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Параметры меняются в реальном времени; готовая лабораторная работа.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">
            <a:extLst>
              <a:ext uri="{FF2B5EF4-FFF2-40B4-BE49-F238E27FC236}">
                <a16:creationId xmlns:a16="http://schemas.microsoft.com/office/drawing/2014/main" id="{AB8CE345-D3CC-3325-44CF-213CFCA359FB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334350"/>
          </a:solidFill>
          <a:ln/>
        </p:spPr>
      </p:sp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104" dirty="0">
                <a:solidFill>
                  <a:srgbClr val="D3E6EE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ЧТО ДОЛЖЕН ДАТЬ ПРОЕКТ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36" dirty="0">
                <a:solidFill>
                  <a:srgbClr val="B9D3C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Цель и задачи проекта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654620"/>
            <a:ext cx="10972526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Создать учебный стенд, который наглядно и воспроизводимо демонстрирует алиасинг при дискретизации сигналов.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2646389"/>
            <a:ext cx="251453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Собрать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111595"/>
            <a:ext cx="2514537" cy="199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Аппаратную часть на базе Arduino Uno, которая формирует тестовый сигнал и подаёт его на оцифровку.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28914" y="2646389"/>
            <a:ext cx="251453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Написать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28914" y="3111595"/>
            <a:ext cx="2514537" cy="199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Скетч, который генерирует тестовый сигнал и оцифровывает его с заданной частотой дискретизации.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248244" y="2646389"/>
            <a:ext cx="251453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Создать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48244" y="3111595"/>
            <a:ext cx="2514537" cy="166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Python-скрипт, который строит временные графики сигнала и его спектр с помощью БПФ.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067573" y="2646389"/>
            <a:ext cx="251453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Разработать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67573" y="3111595"/>
            <a:ext cx="2514537" cy="266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Методические материалы для проведения занятий по теореме Котельникова и наглядной демонстрации алиасинга.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5">
            <a:extLst>
              <a:ext uri="{FF2B5EF4-FFF2-40B4-BE49-F238E27FC236}">
                <a16:creationId xmlns:a16="http://schemas.microsoft.com/office/drawing/2014/main" id="{3B965199-B629-E738-A9FC-83F8F5C7BD27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334350"/>
          </a:solidFill>
          <a:ln/>
        </p:spPr>
      </p:sp>
      <p:sp>
        <p:nvSpPr>
          <p:cNvPr id="2" name="Text 0"/>
          <p:cNvSpPr/>
          <p:nvPr/>
        </p:nvSpPr>
        <p:spPr>
          <a:xfrm>
            <a:off x="609585" y="622875"/>
            <a:ext cx="1158211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ПУТЬ СИГНАЛА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8584"/>
            <a:ext cx="10972526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50" b="1" kern="100" spc="-31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Состав стенда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609585" y="1463661"/>
            <a:ext cx="11582110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Arduino создаёт тестовый сигнал, оцифровывает его и передаёт данные на ПК.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515" y="1866205"/>
            <a:ext cx="5536565" cy="23875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1492" y="2152028"/>
            <a:ext cx="3044657" cy="14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Генерация ШИМ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01492" y="2705678"/>
            <a:ext cx="3044657" cy="14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RC-фильтр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01492" y="3253792"/>
            <a:ext cx="3044657" cy="148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Дискретизация АЦП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01492" y="3801907"/>
            <a:ext cx="3044657" cy="14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b="1" dirty="0"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Переход в Python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9585" y="4409777"/>
            <a:ext cx="10972526" cy="196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6000"/>
              </a:lnSpc>
              <a:buSzPct val="100000"/>
              <a:buChar char="•"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Arduino Uno R3.</a:t>
            </a: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Создаёт тестовый ШИМ-сигнал, измеряет его встроенным АЦП с выбранной частотой дискретизации и передаёт данные по Serial на ПК.</a:t>
            </a:r>
            <a:endParaRPr lang="en-US" sz="1600" dirty="0"/>
          </a:p>
          <a:p>
            <a:pPr marL="325120" indent="-325120" algn="l">
              <a:lnSpc>
                <a:spcPct val="106000"/>
              </a:lnSpc>
              <a:buSzPct val="100000"/>
              <a:buChar char="•"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RC-фильтр нижних частот.</a:t>
            </a: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Резистор и конденсатор сглаживают ШИМ-сигнал и превращают его в аналоговый сигнал, который затем измеряет АЦП.</a:t>
            </a:r>
            <a:endParaRPr lang="en-US" sz="1600" dirty="0"/>
          </a:p>
          <a:p>
            <a:pPr marL="325120" indent="-325120" algn="l">
              <a:lnSpc>
                <a:spcPct val="106000"/>
              </a:lnSpc>
              <a:buSzPct val="100000"/>
              <a:buChar char="•"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Кнопка режимов.</a:t>
            </a: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Переключает работу стенда между двумя режимами, которые сравниваются в защите.</a:t>
            </a:r>
            <a:endParaRPr lang="en-US" sz="1600" dirty="0"/>
          </a:p>
          <a:p>
            <a:pPr marL="325120" indent="-325120" algn="l">
              <a:lnSpc>
                <a:spcPct val="106000"/>
              </a:lnSpc>
              <a:buSzPct val="100000"/>
              <a:buChar char="•"/>
            </a:pPr>
            <a:r>
              <a:rPr lang="en-US" sz="1600" b="1" dirty="0">
                <a:solidFill>
                  <a:srgbClr val="E4E9E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Персональный компьютер.</a:t>
            </a: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Принимает данные, запускает Python и БПФ и строит временную реализацию и спектр сигнала.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585" y="6538092"/>
            <a:ext cx="11582110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6" dirty="0">
                <a:solidFill>
                  <a:srgbClr val="A9B6B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Комплект: плата Arduino Uno R3, компоненты RC-фильтра, кнопка режимов и компьютер.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12191695" cy="6862465"/>
          </a:xfrm>
          <a:prstGeom prst="rect">
            <a:avLst/>
          </a:prstGeom>
          <a:solidFill>
            <a:srgbClr val="334350"/>
          </a:solidFill>
          <a:ln/>
        </p:spPr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16A36EB5-8892-32A7-3E7A-42881E9620E3}"/>
              </a:ext>
            </a:extLst>
          </p:cNvPr>
          <p:cNvSpPr/>
          <p:nvPr/>
        </p:nvSpPr>
        <p:spPr>
          <a:xfrm>
            <a:off x="647684" y="2697857"/>
            <a:ext cx="5115152" cy="4164608"/>
          </a:xfrm>
          <a:prstGeom prst="rect">
            <a:avLst/>
          </a:prstGeom>
          <a:solidFill>
            <a:srgbClr val="222F3A"/>
          </a:solidFill>
          <a:ln/>
        </p:spPr>
      </p:sp>
      <p:sp>
        <p:nvSpPr>
          <p:cNvPr id="2" name="Text 0"/>
          <p:cNvSpPr/>
          <p:nvPr/>
        </p:nvSpPr>
        <p:spPr>
          <a:xfrm>
            <a:off x="609585" y="622506"/>
            <a:ext cx="11582110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99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ГЛАВНОЕ ДОКАЗАТЕЛЬСТВО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940668"/>
            <a:ext cx="10972526" cy="46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kern="100" spc="-34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Один сигнал. Два результата.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91669"/>
            <a:ext cx="10972526" cy="92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На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вход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стенда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подаётся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синусоидальный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сигнал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частотой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100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Гц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Кнопка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меняет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частоту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дискретизации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,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то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есть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с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какой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частотой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АЦП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измеряет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сигнал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, и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один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и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тот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же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сигнал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даёт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два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разных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результата</a:t>
            </a:r>
            <a:r>
              <a:rPr lang="en-US" sz="18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2941443"/>
            <a:ext cx="4876678" cy="34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Корректная дискретизация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38179" y="3436146"/>
            <a:ext cx="4876678" cy="154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Fs = 500 Гц выше удвоенной частоты сигнала (2 × 100 Гц = 200 Гц). Условие теоремы Котельникова выполнено: временная реализация сохраняет сигнал, и в спектре виден правильный пик.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8179" y="6206709"/>
            <a:ext cx="5105272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Пик спектра ровно 100 Гц, совпадает с частотой сигнала.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48244" y="2697857"/>
            <a:ext cx="5333867" cy="4164608"/>
          </a:xfrm>
          <a:prstGeom prst="rect">
            <a:avLst/>
          </a:prstGeom>
          <a:solidFill>
            <a:srgbClr val="222F3A"/>
          </a:solidFill>
          <a:ln/>
        </p:spPr>
      </p:sp>
      <p:sp>
        <p:nvSpPr>
          <p:cNvPr id="11" name="Text 8"/>
          <p:cNvSpPr/>
          <p:nvPr/>
        </p:nvSpPr>
        <p:spPr>
          <a:xfrm>
            <a:off x="6476838" y="2941443"/>
            <a:ext cx="4876678" cy="34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Алиасинг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476838" y="3436146"/>
            <a:ext cx="4876678" cy="154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Fs = 150 Гц ниже удвоенной частоты сигнала (200 Гц): условие теоремы нарушено. Сигнал маскируется, и спектр показывает ложный пик. Это и есть эффект алиасинга.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76838" y="6206709"/>
            <a:ext cx="4876678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Ложный пик смещён на 50 Гц: 100 Гц «отражается» относительно частоты дискретизации 150 Гц.</a:t>
            </a:r>
            <a:endParaRPr lang="en-US" sz="135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43C8232-5D27-EEC2-AFEF-20FAF3487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387" y="4977509"/>
            <a:ext cx="4060126" cy="105987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2F25FEA5-15F8-D77E-C040-B02BEA25A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02" y="4918527"/>
            <a:ext cx="5077534" cy="1228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7F1C737-726C-6705-7E78-BAA6CAB7D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104" dirty="0">
                <a:solidFill>
                  <a:srgbClr val="D3E6EE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8 НЕДЕЛЬ · ОТ ПАРАМЕТРОВ К ЗАЩИТЕ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893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36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План реализации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659361"/>
            <a:ext cx="52576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Недели 1–2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129330"/>
            <a:ext cx="5257668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Закупка радиодеталей и модулей; утверждение параметров сигналов: частота исходного синуса, частота дискретизации и уровни квантования.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24442" y="1659361"/>
            <a:ext cx="52576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Недели 3–4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24442" y="2129330"/>
            <a:ext cx="5257668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Сборка схемы RC-фильтра на макетной плате; проверка уровней сигнала; написание базового скетча для захвата отсчётов АЦП.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3919564"/>
            <a:ext cx="52576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Недели 5–6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388390"/>
            <a:ext cx="525766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Разработка Python-скрипта для получения данных и построения спектров; фиксация двух спектров: при частоте дискретизации выше удвоенной частоты сигнала и ниже неё.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4442" y="3919564"/>
            <a:ext cx="5257668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B9D3C2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Недели 7–8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24442" y="4389533"/>
            <a:ext cx="5257668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Подготовка методички объёмом 4–6 страниц; упаковка стенда в корпус; финальные тесты и защита на кафедре.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2290A9-82CD-FED5-FCB9-BA7EB01A9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78541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10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ПЕРЕДАВАЕМЫЕ РЕЗУЛЬТАТЫ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22627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36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Проект превращается в готовое учебное пособие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00684"/>
            <a:ext cx="10972526" cy="2905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Физический макет стенда в защитном контейнере: плата Arduino Uno с RC-фильтром и кнопкой переключения режимов.</a:t>
            </a:r>
            <a:endParaRPr lang="en-US" sz="1900" dirty="0"/>
          </a:p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Лабораторная методичка объёмом 4–6 страниц: порядок работ, измерений и контрольные вопросы.</a:t>
            </a:r>
            <a:endParaRPr lang="en-US" sz="1900" dirty="0"/>
          </a:p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Паспорт стенда: состав, схема подключения, технические характеристики и правила безопасной работы.</a:t>
            </a:r>
            <a:endParaRPr lang="en-US" sz="1900" dirty="0"/>
          </a:p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Проверенный скетч Arduino и готовый Python-скрипт визуализации сигналов.</a:t>
            </a:r>
            <a:endParaRPr lang="en-US" sz="1900" dirty="0"/>
          </a:p>
          <a:p>
            <a:pPr marL="386080" indent="-386080" algn="l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Набор эталонных CSV-файлов для демонстрационных лекций.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5433711"/>
            <a:ext cx="10972526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Главный итог — доступное учебное пособие, созданное своими руками, которое связывает теорию дискретизации с работой реального стенда.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1148</Words>
  <Application>Microsoft Office PowerPoint</Application>
  <PresentationFormat>Широкоэкранный</PresentationFormat>
  <Paragraphs>77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IBM Plex Sans</vt:lpstr>
      <vt:lpstr>Noto Sans</vt:lpstr>
      <vt:lpstr>Manrope Bold</vt:lpstr>
      <vt:lpstr>Arial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DPStuart</dc:creator>
  <cp:lastModifiedBy>Михаил Васильев</cp:lastModifiedBy>
  <cp:revision>2</cp:revision>
  <dcterms:created xsi:type="dcterms:W3CDTF">2026-10-24T02:06:52Z</dcterms:created>
  <dcterms:modified xsi:type="dcterms:W3CDTF">2026-10-24T02:17:33Z</dcterms:modified>
</cp:coreProperties>
</file>